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9" r:id="rId4"/>
    <p:sldId id="274" r:id="rId5"/>
    <p:sldId id="275" r:id="rId6"/>
    <p:sldId id="273" r:id="rId7"/>
    <p:sldId id="277" r:id="rId8"/>
    <p:sldId id="268"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networksimulationtools.com/cybersecurity-capstone-idea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GB" sz="1800" dirty="0">
                <a:solidFill>
                  <a:srgbClr val="FF0000"/>
                </a:solidFill>
                <a:latin typeface="Cambria" panose="02040503050406030204" pitchFamily="18" charset="0"/>
                <a:ea typeface="Cambria" panose="02040503050406030204" pitchFamily="18" charset="0"/>
              </a:rPr>
              <a:t>IST_2</a:t>
            </a:r>
            <a:endParaRPr sz="1800" dirty="0">
              <a:solidFill>
                <a:srgbClr val="FF0000"/>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US" sz="20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Dr</a:t>
            </a:r>
            <a:r>
              <a:rPr lang="en-US" sz="2000" b="1" i="0" u="none" strike="noStrike" cap="none" dirty="0">
                <a:solidFill>
                  <a:srgbClr val="FF0000"/>
                </a:solidFill>
                <a:latin typeface="Cambria" panose="02040503050406030204" pitchFamily="18" charset="0"/>
                <a:ea typeface="Cambria" panose="02040503050406030204" pitchFamily="18" charset="0"/>
                <a:cs typeface="Verdana"/>
                <a:sym typeface="Verdana"/>
              </a:rPr>
              <a:t> . </a:t>
            </a:r>
            <a:r>
              <a:rPr lang="en-US" sz="20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Shanmugarathinam</a:t>
            </a:r>
            <a:r>
              <a:rPr lang="en-US" sz="2000" b="1" i="0" u="none" strike="noStrike" cap="none" dirty="0">
                <a:solidFill>
                  <a:srgbClr val="FF0000"/>
                </a:solidFill>
                <a:latin typeface="Cambria" panose="02040503050406030204" pitchFamily="18" charset="0"/>
                <a:ea typeface="Cambria" panose="02040503050406030204" pitchFamily="18" charset="0"/>
                <a:cs typeface="Verdana"/>
                <a:sym typeface="Verdana"/>
              </a:rPr>
              <a:t> G</a:t>
            </a:r>
            <a:endParaRPr sz="2000" b="1" i="0" u="none" strike="noStrike" cap="none" dirty="0">
              <a:solidFill>
                <a:srgbClr val="FF0000"/>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8640959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Information Science And Technology</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rPr>
              <a:t>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rPr>
              <a:t>MS. BENITHA CHRISTINAL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p:cNvGraphicFramePr>
            <a:graphicFrameLocks noGrp="1"/>
          </p:cNvGraphicFramePr>
          <p:nvPr>
            <p:extLst>
              <p:ext uri="{D42A27DB-BD31-4B8C-83A1-F6EECF244321}">
                <p14:modId xmlns:p14="http://schemas.microsoft.com/office/powerpoint/2010/main" val="3751713746"/>
              </p:ext>
            </p:extLst>
          </p:nvPr>
        </p:nvGraphicFramePr>
        <p:xfrm>
          <a:off x="570669" y="2676653"/>
          <a:ext cx="5488299" cy="1483360"/>
        </p:xfrm>
        <a:graphic>
          <a:graphicData uri="http://schemas.openxmlformats.org/drawingml/2006/table">
            <a:tbl>
              <a:tblPr firstRow="1" bandRow="1"/>
              <a:tblGrid>
                <a:gridCol w="1807420">
                  <a:extLst>
                    <a:ext uri="{9D8B030D-6E8A-4147-A177-3AD203B41FA5}">
                      <a16:colId xmlns:a16="http://schemas.microsoft.com/office/drawing/2014/main" val="20000"/>
                    </a:ext>
                  </a:extLst>
                </a:gridCol>
                <a:gridCol w="3680879">
                  <a:extLst>
                    <a:ext uri="{9D8B030D-6E8A-4147-A177-3AD203B41FA5}">
                      <a16:colId xmlns:a16="http://schemas.microsoft.com/office/drawing/2014/main" val="20001"/>
                    </a:ext>
                  </a:extLst>
                </a:gridCol>
              </a:tblGrid>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r h="370840">
                <a:tc>
                  <a:txBody>
                    <a:bodyPr/>
                    <a:lstStyle/>
                    <a:p>
                      <a:r>
                        <a:rPr lang="en-US" dirty="0">
                          <a:solidFill>
                            <a:schemeClr val="tx1"/>
                          </a:solidFill>
                          <a:latin typeface="Cambria" pitchFamily="18" charset="0"/>
                          <a:ea typeface="Cambria" pitchFamily="18" charset="0"/>
                          <a:cs typeface="Times New Roman" pitchFamily="18" charset="0"/>
                        </a:rPr>
                        <a:t>20221IST0075</a:t>
                      </a:r>
                      <a:endParaRPr lang="en-IN" dirty="0">
                        <a:solidFill>
                          <a:schemeClr val="tx1"/>
                        </a:solidFill>
                        <a:latin typeface="Cambria" pitchFamily="18" charset="0"/>
                        <a:ea typeface="Cambria" pitchFamily="18" charset="0"/>
                        <a:cs typeface="Times New Roman" pitchFamily="18" charset="0"/>
                      </a:endParaRPr>
                    </a:p>
                  </a:txBody>
                  <a:tcPr/>
                </a:tc>
                <a:tc>
                  <a:txBody>
                    <a:bodyPr/>
                    <a:lstStyle/>
                    <a:p>
                      <a:r>
                        <a:rPr lang="en-US" dirty="0">
                          <a:solidFill>
                            <a:schemeClr val="tx1"/>
                          </a:solidFill>
                          <a:latin typeface="Cambria" pitchFamily="18" charset="0"/>
                          <a:ea typeface="Cambria" pitchFamily="18" charset="0"/>
                          <a:cs typeface="Times New Roman" pitchFamily="18" charset="0"/>
                        </a:rPr>
                        <a:t>AISHWARYALAKSHMI D</a:t>
                      </a:r>
                      <a:endParaRPr lang="en-IN" dirty="0">
                        <a:solidFill>
                          <a:schemeClr val="tx1"/>
                        </a:solidFill>
                        <a:latin typeface="Cambria" pitchFamily="18" charset="0"/>
                        <a:ea typeface="Cambria"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dirty="0">
                          <a:solidFill>
                            <a:schemeClr val="tx1"/>
                          </a:solidFill>
                          <a:latin typeface="Cambria" pitchFamily="18" charset="0"/>
                          <a:ea typeface="Cambria" pitchFamily="18" charset="0"/>
                          <a:cs typeface="Times New Roman" pitchFamily="18" charset="0"/>
                        </a:rPr>
                        <a:t>20221IST0054</a:t>
                      </a:r>
                      <a:endParaRPr lang="en-IN" dirty="0">
                        <a:solidFill>
                          <a:schemeClr val="tx1"/>
                        </a:solidFill>
                        <a:latin typeface="Cambria" pitchFamily="18" charset="0"/>
                        <a:ea typeface="Cambria" pitchFamily="18" charset="0"/>
                        <a:cs typeface="Times New Roman" pitchFamily="18" charset="0"/>
                      </a:endParaRPr>
                    </a:p>
                  </a:txBody>
                  <a:tcPr/>
                </a:tc>
                <a:tc>
                  <a:txBody>
                    <a:bodyPr/>
                    <a:lstStyle/>
                    <a:p>
                      <a:r>
                        <a:rPr lang="en-US" dirty="0">
                          <a:solidFill>
                            <a:schemeClr val="tx1"/>
                          </a:solidFill>
                          <a:latin typeface="Cambria" pitchFamily="18" charset="0"/>
                          <a:ea typeface="Cambria" pitchFamily="18" charset="0"/>
                          <a:cs typeface="Times New Roman" pitchFamily="18" charset="0"/>
                        </a:rPr>
                        <a:t>TASMIYA</a:t>
                      </a:r>
                      <a:endParaRPr lang="en-IN" dirty="0">
                        <a:solidFill>
                          <a:schemeClr val="tx1"/>
                        </a:solidFill>
                        <a:latin typeface="Cambria" pitchFamily="18" charset="0"/>
                        <a:ea typeface="Cambria"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US" dirty="0">
                          <a:solidFill>
                            <a:schemeClr val="tx1"/>
                          </a:solidFill>
                          <a:latin typeface="Cambria" pitchFamily="18" charset="0"/>
                          <a:ea typeface="Cambria" pitchFamily="18" charset="0"/>
                          <a:cs typeface="Times New Roman" pitchFamily="18" charset="0"/>
                        </a:rPr>
                        <a:t>20221IST0052</a:t>
                      </a:r>
                      <a:endParaRPr lang="en-IN" dirty="0">
                        <a:solidFill>
                          <a:schemeClr val="tx1"/>
                        </a:solidFill>
                        <a:latin typeface="Cambria" pitchFamily="18" charset="0"/>
                        <a:ea typeface="Cambria" pitchFamily="18" charset="0"/>
                        <a:cs typeface="Times New Roman" pitchFamily="18" charset="0"/>
                      </a:endParaRPr>
                    </a:p>
                  </a:txBody>
                  <a:tcPr/>
                </a:tc>
                <a:tc>
                  <a:txBody>
                    <a:bodyPr/>
                    <a:lstStyle/>
                    <a:p>
                      <a:r>
                        <a:rPr lang="en-US" dirty="0">
                          <a:solidFill>
                            <a:schemeClr val="tx1"/>
                          </a:solidFill>
                          <a:latin typeface="Cambria" pitchFamily="18" charset="0"/>
                          <a:ea typeface="Cambria" pitchFamily="18" charset="0"/>
                          <a:cs typeface="Times New Roman" pitchFamily="18" charset="0"/>
                        </a:rPr>
                        <a:t>YARLAGADDA VARSHANTH</a:t>
                      </a:r>
                      <a:endParaRPr lang="en-IN" dirty="0">
                        <a:solidFill>
                          <a:schemeClr val="tx1"/>
                        </a:solidFill>
                        <a:latin typeface="Cambria" pitchFamily="18" charset="0"/>
                        <a:ea typeface="Cambria"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45137"/>
            <a:ext cx="10668000" cy="4245436"/>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074175"/>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dirty="0">
                <a:latin typeface="Times New Roman" panose="02020603050405020304" pitchFamily="18" charset="0"/>
                <a:ea typeface="Verdana" pitchFamily="34" charset="0"/>
                <a:cs typeface="Times New Roman" panose="02020603050405020304" pitchFamily="18" charset="0"/>
              </a:rPr>
              <a:t>Student Innovation (Network Traffic Sniffer &amp; Analyzer)</a:t>
            </a:r>
          </a:p>
          <a:p>
            <a:pPr marL="342900" lvl="0" indent="-190500" algn="just">
              <a:lnSpc>
                <a:spcPct val="200000"/>
              </a:lnSpc>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dirty="0">
                <a:latin typeface="Times New Roman" panose="02020603050405020304" pitchFamily="18" charset="0"/>
                <a:ea typeface="Verdana" pitchFamily="34" charset="0"/>
                <a:cs typeface="Times New Roman" panose="02020603050405020304" pitchFamily="18" charset="0"/>
              </a:rPr>
              <a:t>Software </a:t>
            </a:r>
          </a:p>
          <a:p>
            <a:pPr marL="342900" lvl="0" indent="-190500" algn="just">
              <a:lnSpc>
                <a:spcPct val="200000"/>
              </a:lnSpc>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Problem Description</a:t>
            </a:r>
            <a:r>
              <a:rPr lang="en-US" b="1" dirty="0">
                <a:latin typeface="Times New Roman" panose="02020603050405020304" pitchFamily="18" charset="0"/>
                <a:ea typeface="Verdana" pitchFamily="34" charset="0"/>
                <a:cs typeface="Times New Roman" panose="02020603050405020304" pitchFamily="18" charset="0"/>
              </a:rPr>
              <a:t>:  </a:t>
            </a:r>
            <a:r>
              <a:rPr lang="en-US" dirty="0">
                <a:latin typeface="Times New Roman" panose="02020603050405020304" pitchFamily="18" charset="0"/>
                <a:ea typeface="Verdana" pitchFamily="34" charset="0"/>
                <a:cs typeface="Times New Roman" panose="02020603050405020304" pitchFamily="18" charset="0"/>
              </a:rPr>
              <a:t>In educational institutions like schools and colleges, networks are increasingly targeted by cyber threats such as unauthorized access, malware attacks, and data breaches. These threats can disrupt academic activities, compromise sensitive student and staff information, and degrade overall network performance. Often, network administrators and students lack easy-to-use tools that can provide real-time monitoring and alerting for such suspicious activities on their networks</a:t>
            </a:r>
            <a:r>
              <a:rPr lang="en-US" dirty="0">
                <a:latin typeface="Times New Roman" panose="02020603050405020304" pitchFamily="18" charset="0"/>
                <a:ea typeface="Cambria" panose="02040503050406030204" pitchFamily="18" charset="0"/>
                <a:cs typeface="Times New Roman" panose="02020603050405020304" pitchFamily="18" charset="0"/>
              </a:rPr>
              <a:t>.</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a:t>
            </a:r>
          </a:p>
        </p:txBody>
      </p:sp>
      <p:sp>
        <p:nvSpPr>
          <p:cNvPr id="3" name="Text Placeholder 2"/>
          <p:cNvSpPr>
            <a:spLocks noGrp="1"/>
          </p:cNvSpPr>
          <p:nvPr>
            <p:ph type="body"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Develop a real-time network traffic monitoring tool </a:t>
            </a:r>
            <a:r>
              <a:rPr lang="en-US" dirty="0">
                <a:latin typeface="Times New Roman" panose="02020603050405020304" pitchFamily="18" charset="0"/>
                <a:cs typeface="Times New Roman" panose="02020603050405020304" pitchFamily="18" charset="0"/>
              </a:rPr>
              <a:t>that captures data packets flowing through a network interface for analysis.</a:t>
            </a:r>
          </a:p>
          <a:p>
            <a:r>
              <a:rPr lang="en-US" b="1" dirty="0">
                <a:latin typeface="Times New Roman" panose="02020603050405020304" pitchFamily="18" charset="0"/>
                <a:cs typeface="Times New Roman" panose="02020603050405020304" pitchFamily="18" charset="0"/>
              </a:rPr>
              <a:t>Identify and flag suspicious network activities </a:t>
            </a:r>
            <a:r>
              <a:rPr lang="en-US" dirty="0">
                <a:latin typeface="Times New Roman" panose="02020603050405020304" pitchFamily="18" charset="0"/>
                <a:cs typeface="Times New Roman" panose="02020603050405020304" pitchFamily="18" charset="0"/>
              </a:rPr>
              <a:t>such as unauthorized access attempts, communication with unknown or blacklisted IP addresses, and abnormal traffic patterns.</a:t>
            </a:r>
          </a:p>
          <a:p>
            <a:r>
              <a:rPr lang="en-US" b="1" dirty="0">
                <a:latin typeface="Times New Roman" panose="02020603050405020304" pitchFamily="18" charset="0"/>
                <a:cs typeface="Times New Roman" panose="02020603050405020304" pitchFamily="18" charset="0"/>
              </a:rPr>
              <a:t>Provide an easy-to-use interface (CLI and optionally GUI) </a:t>
            </a:r>
            <a:r>
              <a:rPr lang="en-US" dirty="0">
                <a:latin typeface="Times New Roman" panose="02020603050405020304" pitchFamily="18" charset="0"/>
                <a:cs typeface="Times New Roman" panose="02020603050405020304" pitchFamily="18" charset="0"/>
              </a:rPr>
              <a:t>for students, staff, and network administrators to monitor and analyze network security.</a:t>
            </a:r>
          </a:p>
          <a:p>
            <a:r>
              <a:rPr lang="en-US" b="1" dirty="0">
                <a:latin typeface="Times New Roman" panose="02020603050405020304" pitchFamily="18" charset="0"/>
                <a:cs typeface="Times New Roman" panose="02020603050405020304" pitchFamily="18" charset="0"/>
              </a:rPr>
              <a:t>Log detailed information about suspicious packets </a:t>
            </a:r>
            <a:r>
              <a:rPr lang="en-US" dirty="0">
                <a:latin typeface="Times New Roman" panose="02020603050405020304" pitchFamily="18" charset="0"/>
                <a:cs typeface="Times New Roman" panose="02020603050405020304" pitchFamily="18" charset="0"/>
              </a:rPr>
              <a:t>for later review, investigation, and record-keeping.</a:t>
            </a:r>
          </a:p>
          <a:p>
            <a:r>
              <a:rPr lang="en-US" b="1" dirty="0">
                <a:latin typeface="Times New Roman" panose="02020603050405020304" pitchFamily="18" charset="0"/>
                <a:cs typeface="Times New Roman" panose="02020603050405020304" pitchFamily="18" charset="0"/>
              </a:rPr>
              <a:t>Increase </a:t>
            </a:r>
            <a:r>
              <a:rPr lang="en-US" b="1" dirty="0" err="1">
                <a:latin typeface="Times New Roman" panose="02020603050405020304" pitchFamily="18" charset="0"/>
                <a:cs typeface="Times New Roman" panose="02020603050405020304" pitchFamily="18" charset="0"/>
              </a:rPr>
              <a:t>CyberSecurity</a:t>
            </a:r>
            <a:r>
              <a:rPr lang="en-US" b="1" dirty="0">
                <a:latin typeface="Times New Roman" panose="02020603050405020304" pitchFamily="18" charset="0"/>
                <a:cs typeface="Times New Roman" panose="02020603050405020304" pitchFamily="18" charset="0"/>
              </a:rPr>
              <a:t> awareness among the student community </a:t>
            </a:r>
            <a:r>
              <a:rPr lang="en-US" dirty="0">
                <a:latin typeface="Times New Roman" panose="02020603050405020304" pitchFamily="18" charset="0"/>
                <a:cs typeface="Times New Roman" panose="02020603050405020304" pitchFamily="18" charset="0"/>
              </a:rPr>
              <a:t>by demonstrating real-time threats and the importance of network security.</a:t>
            </a:r>
          </a:p>
          <a:p>
            <a:r>
              <a:rPr lang="en-US" b="1" dirty="0">
                <a:latin typeface="Times New Roman" panose="02020603050405020304" pitchFamily="18" charset="0"/>
                <a:cs typeface="Times New Roman" panose="02020603050405020304" pitchFamily="18" charset="0"/>
              </a:rPr>
              <a:t>Create an innovative, practical solution applicable to educational institution networks</a:t>
            </a:r>
            <a:r>
              <a:rPr lang="en-US" dirty="0">
                <a:latin typeface="Times New Roman" panose="02020603050405020304" pitchFamily="18" charset="0"/>
                <a:cs typeface="Times New Roman" panose="02020603050405020304" pitchFamily="18" charset="0"/>
              </a:rPr>
              <a:t>, contributing to campus safety and student learning.</a:t>
            </a:r>
          </a:p>
          <a:p>
            <a:r>
              <a:rPr lang="en-US" b="1" dirty="0">
                <a:latin typeface="Times New Roman" panose="02020603050405020304" pitchFamily="18" charset="0"/>
                <a:cs typeface="Times New Roman" panose="02020603050405020304" pitchFamily="18" charset="0"/>
              </a:rPr>
              <a:t>Lay the groundwork for future enhancements</a:t>
            </a:r>
            <a:r>
              <a:rPr lang="en-US" dirty="0">
                <a:latin typeface="Times New Roman" panose="02020603050405020304" pitchFamily="18" charset="0"/>
                <a:cs typeface="Times New Roman" panose="02020603050405020304" pitchFamily="18" charset="0"/>
              </a:rPr>
              <a:t>, such as automated threat detection, alerts, and integration with broader security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82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668000" cy="873442"/>
          </a:xfrm>
        </p:spPr>
        <p:txBody>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Educational institutions rely heavily on computer networks, which face growing </a:t>
            </a:r>
            <a:r>
              <a:rPr lang="en-US" dirty="0" err="1">
                <a:latin typeface="Times New Roman" panose="02020603050405020304" pitchFamily="18" charset="0"/>
                <a:cs typeface="Times New Roman" panose="02020603050405020304" pitchFamily="18" charset="0"/>
              </a:rPr>
              <a:t>CyberSecurity</a:t>
            </a:r>
            <a:r>
              <a:rPr lang="en-US" dirty="0">
                <a:latin typeface="Times New Roman" panose="02020603050405020304" pitchFamily="18" charset="0"/>
                <a:cs typeface="Times New Roman" panose="02020603050405020304" pitchFamily="18" charset="0"/>
              </a:rPr>
              <a:t> threats like unauthorized access and malware. Existing professional tools for network monitoring are often too complex or costly for students and staff to use effectively.</a:t>
            </a:r>
          </a:p>
          <a:p>
            <a:r>
              <a:rPr lang="en-US" dirty="0">
                <a:latin typeface="Times New Roman" panose="02020603050405020304" pitchFamily="18" charset="0"/>
                <a:cs typeface="Times New Roman" panose="02020603050405020304" pitchFamily="18" charset="0"/>
              </a:rPr>
              <a:t>This project fills the gap by creating a simple, user-friendly Network Traffic Sniffer &amp; Analyzer designed for schools and colleges. It allows real-time monitoring and detection of suspicious network activity, making </a:t>
            </a:r>
            <a:r>
              <a:rPr lang="en-US" dirty="0" err="1">
                <a:latin typeface="Times New Roman" panose="02020603050405020304" pitchFamily="18" charset="0"/>
                <a:cs typeface="Times New Roman" panose="02020603050405020304" pitchFamily="18" charset="0"/>
              </a:rPr>
              <a:t>cybersecurity</a:t>
            </a:r>
            <a:r>
              <a:rPr lang="en-US" dirty="0">
                <a:latin typeface="Times New Roman" panose="02020603050405020304" pitchFamily="18" charset="0"/>
                <a:cs typeface="Times New Roman" panose="02020603050405020304" pitchFamily="18" charset="0"/>
              </a:rPr>
              <a:t> accessible and educational.</a:t>
            </a:r>
          </a:p>
          <a:p>
            <a:r>
              <a:rPr lang="en-US" dirty="0">
                <a:latin typeface="Times New Roman" panose="02020603050405020304" pitchFamily="18" charset="0"/>
                <a:cs typeface="Times New Roman" panose="02020603050405020304" pitchFamily="18" charset="0"/>
              </a:rPr>
              <a:t>By encouraging student innovation in this area, the project helps build practical skills and awareness, while contributing to safer campus networks. It offers an innovative approach tailored for the educational environment, unlike complex enterprise-level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43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495300" lvl="0" indent="-342900" algn="just">
              <a:spcBef>
                <a:spcPts val="0"/>
              </a:spcBef>
              <a:buSzPct val="100000"/>
              <a:buFont typeface="Arial" pitchFamily="34" charset="0"/>
              <a:buChar char="•"/>
            </a:pPr>
            <a:r>
              <a:rPr lang="en-US" dirty="0">
                <a:latin typeface="Times New Roman" panose="02020603050405020304" pitchFamily="18" charset="0"/>
                <a:ea typeface="Verdana" pitchFamily="34" charset="0"/>
                <a:cs typeface="Times New Roman" panose="02020603050405020304" pitchFamily="18" charset="0"/>
              </a:rPr>
              <a:t>Educational institutions face growing </a:t>
            </a:r>
            <a:r>
              <a:rPr lang="en-US" dirty="0" err="1">
                <a:latin typeface="Times New Roman" panose="02020603050405020304" pitchFamily="18" charset="0"/>
                <a:ea typeface="Verdana" pitchFamily="34" charset="0"/>
                <a:cs typeface="Times New Roman" panose="02020603050405020304" pitchFamily="18" charset="0"/>
              </a:rPr>
              <a:t>cybersecurity</a:t>
            </a:r>
            <a:r>
              <a:rPr lang="en-US" dirty="0">
                <a:latin typeface="Times New Roman" panose="02020603050405020304" pitchFamily="18" charset="0"/>
                <a:ea typeface="Verdana" pitchFamily="34" charset="0"/>
                <a:cs typeface="Times New Roman" panose="02020603050405020304" pitchFamily="18" charset="0"/>
              </a:rPr>
              <a:t> risks but lack simple, affordable, and user-friendly tools for real-time network monitoring. Existing professional solutions are often too complex or expensive for schools.</a:t>
            </a:r>
          </a:p>
          <a:p>
            <a:pPr marL="495300" indent="-342900" algn="just">
              <a:spcBef>
                <a:spcPts val="0"/>
              </a:spcBef>
              <a:buSzPct val="100000"/>
            </a:pPr>
            <a:r>
              <a:rPr lang="en-US" dirty="0">
                <a:latin typeface="Times New Roman" panose="02020603050405020304" pitchFamily="18" charset="0"/>
                <a:ea typeface="Verdana" pitchFamily="34" charset="0"/>
                <a:cs typeface="Times New Roman" panose="02020603050405020304" pitchFamily="18" charset="0"/>
              </a:rPr>
              <a:t>This project addresses these issues by creating an easy-to-use software tool that captures and analyzes network traffic to detect suspicious activity. It empowers students and staff to improve campus network security while learning practical </a:t>
            </a:r>
            <a:r>
              <a:rPr lang="en-US" dirty="0" err="1">
                <a:latin typeface="Times New Roman" panose="02020603050405020304" pitchFamily="18" charset="0"/>
                <a:ea typeface="Verdana" pitchFamily="34" charset="0"/>
                <a:cs typeface="Times New Roman" panose="02020603050405020304" pitchFamily="18" charset="0"/>
              </a:rPr>
              <a:t>cybersecurity</a:t>
            </a:r>
            <a:r>
              <a:rPr lang="en-US" dirty="0">
                <a:latin typeface="Times New Roman" panose="02020603050405020304" pitchFamily="18" charset="0"/>
                <a:ea typeface="Verdana" pitchFamily="34" charset="0"/>
                <a:cs typeface="Times New Roman" panose="02020603050405020304" pitchFamily="18" charset="0"/>
              </a:rPr>
              <a:t> skills. The solution is designed to be both innovative and educational, suitable for school and college environments.</a:t>
            </a:r>
          </a:p>
          <a:p>
            <a:pPr marL="342900" lvl="0" indent="-190500" algn="just" rtl="0">
              <a:spcBef>
                <a:spcPts val="0"/>
              </a:spcBef>
              <a:spcAft>
                <a:spcPts val="0"/>
              </a:spcAft>
              <a:buClr>
                <a:schemeClr val="dk1"/>
              </a:buClr>
              <a:buSzPct val="100000"/>
              <a:buNone/>
            </a:pPr>
            <a:endParaRPr lang="en-US" dirty="0">
              <a:latin typeface="Times New Roman" panose="02020603050405020304" pitchFamily="18" charset="0"/>
              <a:ea typeface="Verdana" pitchFamily="34" charset="0"/>
              <a:cs typeface="Times New Roman" panose="02020603050405020304" pitchFamily="18" charset="0"/>
            </a:endParaRPr>
          </a:p>
          <a:p>
            <a:pPr marL="342900" lvl="0" indent="-190500" algn="just" rtl="0">
              <a:spcBef>
                <a:spcPts val="0"/>
              </a:spcBef>
              <a:spcAft>
                <a:spcPts val="0"/>
              </a:spcAft>
              <a:buClr>
                <a:schemeClr val="dk1"/>
              </a:buClr>
              <a:buSzPct val="100000"/>
              <a:buNone/>
            </a:pPr>
            <a:endParaRPr lang="en-US" dirty="0">
              <a:latin typeface="Times New Roman" panose="02020603050405020304" pitchFamily="18" charset="0"/>
              <a:ea typeface="Verdana" pitchFamily="34"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Times New Roman" panose="02020603050405020304" pitchFamily="18" charset="0"/>
              <a:ea typeface="Verdana" pitchFamily="34"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Verdana" pitchFamily="34" charset="0"/>
              <a:ea typeface="Verdana" pitchFamily="34" charset="0"/>
            </a:endParaRPr>
          </a:p>
          <a:p>
            <a:pPr marL="342900" lvl="0" indent="-190500" algn="just" rtl="0">
              <a:lnSpc>
                <a:spcPct val="200000"/>
              </a:lnSpc>
              <a:spcBef>
                <a:spcPts val="0"/>
              </a:spcBef>
              <a:spcAft>
                <a:spcPts val="0"/>
              </a:spcAft>
              <a:buClr>
                <a:schemeClr val="dk1"/>
              </a:buClr>
              <a:buSzPct val="100000"/>
              <a:buNone/>
            </a:pPr>
            <a:endParaRPr dirty="0">
              <a:latin typeface="Verdana" pitchFamily="34" charset="0"/>
              <a:ea typeface="Verdana"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668000" cy="975042"/>
          </a:xfrm>
        </p:spPr>
        <p:txBody>
          <a:bodyPr/>
          <a:lstStyle/>
          <a:p>
            <a:pPr lvl="0"/>
            <a:r>
              <a:rPr lang="en-US" dirty="0">
                <a:latin typeface="Cambria" panose="02040503050406030204" pitchFamily="18" charset="0"/>
                <a:ea typeface="Cambria" panose="02040503050406030204" pitchFamily="18" charset="0"/>
              </a:rPr>
              <a:t>Innovation or Novel Contributions</a:t>
            </a:r>
            <a:br>
              <a:rPr lang="en-US" sz="3600"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Combining real-time packet capture with simple filtering and suspicious activity detection tailored to school and college network environments.</a:t>
            </a:r>
          </a:p>
          <a:p>
            <a:r>
              <a:rPr lang="en-US" dirty="0">
                <a:latin typeface="Times New Roman" panose="02020603050405020304" pitchFamily="18" charset="0"/>
                <a:cs typeface="Times New Roman" panose="02020603050405020304" pitchFamily="18" charset="0"/>
              </a:rPr>
              <a:t>Empowering students to actively engage in </a:t>
            </a:r>
            <a:r>
              <a:rPr lang="en-US" dirty="0" err="1">
                <a:latin typeface="Times New Roman" panose="02020603050405020304" pitchFamily="18" charset="0"/>
                <a:cs typeface="Times New Roman" panose="02020603050405020304" pitchFamily="18" charset="0"/>
              </a:rPr>
              <a:t>cybersecurity</a:t>
            </a:r>
            <a:r>
              <a:rPr lang="en-US" dirty="0">
                <a:latin typeface="Times New Roman" panose="02020603050405020304" pitchFamily="18" charset="0"/>
                <a:cs typeface="Times New Roman" panose="02020603050405020304" pitchFamily="18" charset="0"/>
              </a:rPr>
              <a:t> through a practical, hands-on learning tool that also serves a real security function.</a:t>
            </a:r>
          </a:p>
          <a:p>
            <a:r>
              <a:rPr lang="en-US" dirty="0">
                <a:latin typeface="Times New Roman" panose="02020603050405020304" pitchFamily="18" charset="0"/>
                <a:cs typeface="Times New Roman" panose="02020603050405020304" pitchFamily="18" charset="0"/>
              </a:rPr>
              <a:t>Offering an educational platform that raises awareness of cyber threats while providing actionable insights into network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Potential to extend with interactive features like GUI, alerts, and automated threat detection fitting educational needs.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97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tx1"/>
                </a:solidFill>
                <a:latin typeface="Cambria" panose="02040503050406030204" pitchFamily="18" charset="0"/>
                <a:ea typeface="Cambria" panose="02040503050406030204" pitchFamily="18" charset="0"/>
              </a:rPr>
              <a:t>https://github.com/Tassu18/Student_Innovation/settings/access?guidance_task=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Coursera , “ </a:t>
            </a:r>
            <a:r>
              <a:rPr lang="en-US" dirty="0" err="1">
                <a:latin typeface="Times New Roman" panose="02020603050405020304" pitchFamily="18" charset="0"/>
                <a:ea typeface="Cambria" panose="02040503050406030204" pitchFamily="18" charset="0"/>
                <a:cs typeface="Times New Roman" panose="02020603050405020304" pitchFamily="18" charset="0"/>
              </a:rPr>
              <a:t>CyberSecurity</a:t>
            </a:r>
            <a:r>
              <a:rPr lang="en-US" dirty="0">
                <a:latin typeface="Times New Roman" panose="02020603050405020304" pitchFamily="18" charset="0"/>
                <a:ea typeface="Cambria" panose="02040503050406030204" pitchFamily="18" charset="0"/>
                <a:cs typeface="Times New Roman" panose="02020603050405020304" pitchFamily="18" charset="0"/>
              </a:rPr>
              <a:t> Capstone Project,” Sep. 2016. [Online].            Available: https://www.coursera.org/learn/cyber-security-capstone </a:t>
            </a: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Network Simulation Tools, “ </a:t>
            </a:r>
            <a:r>
              <a:rPr lang="en-US" dirty="0" err="1">
                <a:latin typeface="Times New Roman" panose="02020603050405020304" pitchFamily="18" charset="0"/>
                <a:ea typeface="Cambria" panose="02040503050406030204" pitchFamily="18" charset="0"/>
                <a:cs typeface="Times New Roman" panose="02020603050405020304" pitchFamily="18" charset="0"/>
              </a:rPr>
              <a:t>CyberSecurity</a:t>
            </a:r>
            <a:r>
              <a:rPr lang="en-US" dirty="0">
                <a:latin typeface="Times New Roman" panose="02020603050405020304" pitchFamily="18" charset="0"/>
                <a:ea typeface="Cambria" panose="02040503050406030204" pitchFamily="18" charset="0"/>
                <a:cs typeface="Times New Roman" panose="02020603050405020304" pitchFamily="18" charset="0"/>
              </a:rPr>
              <a:t> Capstone Topics.” [Online]. Available: </a:t>
            </a:r>
            <a:r>
              <a:rPr lang="en-US" dirty="0">
                <a:latin typeface="Times New Roman" panose="02020603050405020304" pitchFamily="18" charset="0"/>
                <a:ea typeface="Cambria" panose="02040503050406030204" pitchFamily="18" charset="0"/>
                <a:cs typeface="Times New Roman" panose="02020603050405020304" pitchFamily="18" charset="0"/>
                <a:hlinkClick r:id="rId3"/>
              </a:rPr>
              <a:t>https://networksimulationtools.com/cybersecurity-capstone-ideas/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dirty="0" err="1">
                <a:latin typeface="Times New Roman" panose="02020603050405020304" pitchFamily="18" charset="0"/>
                <a:ea typeface="Cambria" panose="02040503050406030204" pitchFamily="18" charset="0"/>
                <a:cs typeface="Times New Roman" panose="02020603050405020304" pitchFamily="18" charset="0"/>
              </a:rPr>
              <a:t>KnowledgeHut</a:t>
            </a:r>
            <a:r>
              <a:rPr lang="en-US" dirty="0">
                <a:latin typeface="Times New Roman" panose="02020603050405020304" pitchFamily="18" charset="0"/>
                <a:ea typeface="Cambria" panose="02040503050406030204" pitchFamily="18" charset="0"/>
                <a:cs typeface="Times New Roman" panose="02020603050405020304" pitchFamily="18" charset="0"/>
              </a:rPr>
              <a:t> , “Top 20+ Cyber Security Projects for 2025 [with Source Code],” Jan. 2025. [Online].</a:t>
            </a:r>
          </a:p>
          <a:p>
            <a:pPr marL="152400"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 Available: https://www.knowledgehut.com/blog/security/top-cyber-security-projects </a:t>
            </a: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Cybersecurity Matters, “Cybersecurity capstone project ideas,” Jul. 2023. [Online]. Available: https://cybersecmatters.com/cybersecurity-capstone-project-ideas/ </a:t>
            </a: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TotalTime>
  <Words>806</Words>
  <Application>Microsoft Office PowerPoint</Application>
  <PresentationFormat>Widescreen</PresentationFormat>
  <Paragraphs>81</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Cambria</vt:lpstr>
      <vt:lpstr>Times New Roman</vt:lpstr>
      <vt:lpstr>Verdana</vt:lpstr>
      <vt:lpstr>Wingdings</vt:lpstr>
      <vt:lpstr>Bioinformatics</vt:lpstr>
      <vt:lpstr>PROJECT TITLE</vt:lpstr>
      <vt:lpstr>Content</vt:lpstr>
      <vt:lpstr>Problem Statement Number: </vt:lpstr>
      <vt:lpstr>Objective</vt:lpstr>
      <vt:lpstr>Background and Related work for title Selection </vt:lpstr>
      <vt:lpstr>Analysis of Problem Statement</vt:lpstr>
      <vt:lpstr>Innovation or Novel Contributions </vt:lpstr>
      <vt:lpstr>Github Link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Tasmiya Naaz</cp:lastModifiedBy>
  <cp:revision>47</cp:revision>
  <dcterms:modified xsi:type="dcterms:W3CDTF">2025-08-20T04:40:24Z</dcterms:modified>
</cp:coreProperties>
</file>